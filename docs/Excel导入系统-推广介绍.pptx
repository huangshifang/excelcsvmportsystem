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1371600"/>
            <a:ext cx="5486400" cy="5486400"/>
          </a:xfrm>
          <a:prstGeom prst="ellipse">
            <a:avLst/>
          </a:prstGeom>
          <a:solidFill>
            <a:srgbClr val="1A56DB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2743200"/>
            <a:ext cx="3200400" cy="3200400"/>
          </a:xfrm>
          <a:prstGeom prst="ellipse">
            <a:avLst/>
          </a:prstGeom>
          <a:solidFill>
            <a:srgbClr val="1098AD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Excel Import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098AD"/>
                </a:solidFill>
                <a:latin typeface="Microsoft YaHei"/>
              </a:defRPr>
            </a:pPr>
            <a:r>
              <a:t>企业级 Excel / CSV 数据导入平台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2286000" cy="54864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80"/>
              </a:spcAft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.NET 10 + React 19 + SQL Server | Clean Architecture</a:t>
            </a:r>
          </a:p>
          <a:p>
            <a:pPr algn="l">
              <a:spcAft>
                <a:spcPts val="1280"/>
              </a:spcAft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JWT 混合认证 (本地 + LDAP/AD) | RBAC 角色权限 | 多服务器支持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rPr dirty="0"/>
              <a:t>2026年5月  |  Version 1.</a:t>
            </a:r>
            <a:r>
              <a:rPr lang="en-US" dirty="0"/>
              <a:t>5</a:t>
            </a:r>
            <a:r>
              <a:rPr dirty="0"/>
              <a:t>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项目背景与定位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痛点分析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业务人员依赖 DBA 手动执行 SQL 导入数据，效率低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Excel/CSV 数据格式多样，列映射易出错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多 SQL Server 实例分散管理，缺乏统一导入入口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缺乏细粒度的表级权限控制和操作审计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AE5F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Web 化自助导入：业务人员浏览器操作，无需数据库客户端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智能列映射：自动匹配 Excel 列与数据库列，支持手动调整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多服务器统一管理：注册远程实例，跨服务器导入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企业级安全：RBAC + 表级权限 + 完整审计日志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265176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3层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Clean Architecture</a:t>
            </a:r>
            <a:br/>
            <a:r>
              <a:t>架构分层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206240"/>
            <a:ext cx="265176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安全防护</a:t>
            </a:r>
            <a:br/>
            <a:r>
              <a:t>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06240"/>
            <a:ext cx="265176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3种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用户角色</a:t>
            </a:r>
            <a:br/>
            <a:r>
              <a:t>Admin/Op/Viewer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206240"/>
            <a:ext cx="265176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200MB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大文件</a:t>
            </a:r>
            <a:br/>
            <a:r>
              <a:t>上传支持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定位：企业级、安全、可扩展的数据导入中间件，打通 Excel → SQL Server 的"最后一公里"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2743200" cy="3017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React 19 + TypeScript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Vite 8 构建工具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Ant Design 6 组件库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React Router 7 路由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i18next 国际化 (中/英)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Axios HTTP 客户端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743200" cy="3017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.NET 10 (ASP.NET Core)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Entity Framework Core 10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JWT Bearer 认证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BCrypt 密码哈希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EPPlus 7 (Excel读写)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CsvHelper 33 (CSV解析)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基础设施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74519"/>
            <a:ext cx="2743200" cy="3017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SQL Server 数据库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Docker 容器化部署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Nginx HTTPS 反向代理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Serilog 日志 (Console+File)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Clean Architecture 架构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自建内部 CA 证书体系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安全体系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874519"/>
            <a:ext cx="2743200" cy="3017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SVG 验证码 (防机器人)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速率限制 (10次/分钟)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账号锁定 (5次→15分钟)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LDAP Filter 注入防护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SQL 参数化查询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登录审计全量记录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系统架构 — Clean Architecture 三层分离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200400" cy="1371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ExcelImportSystem.API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Microsoft YaHei"/>
              </a:defRPr>
            </a:pPr>
            <a:r>
              <a:t>表现层 (ASP.NET Core Web API)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371600"/>
            <a:ext cx="77724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150876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Controllers 处理 HTTP 请求/响应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JWT 认证 &amp; CORS 配置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种子数据 &amp; 数据库迁移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请求 → DTO → Service → 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200400" cy="1371600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ExcelImportSystem.Infrastructure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173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Microsoft YaHei"/>
              </a:defRPr>
            </a:pPr>
            <a:r>
              <a:rPr dirty="0" err="1"/>
              <a:t>基础设施层</a:t>
            </a:r>
            <a:r>
              <a:rPr dirty="0"/>
              <a:t> (EF Core + Services)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017520"/>
            <a:ext cx="77724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315468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AppDbContext 数据上下文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Auth / Import / Table / LDAP Service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DI 注册扩展 (AddInfrastructure)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IServiceScopeFactory 作用域管理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3200400" cy="1371600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ExcelImportSystem.Core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Microsoft YaHei"/>
              </a:defRPr>
            </a:pPr>
            <a:r>
              <a:t>领域层 (零外部依赖)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4663440"/>
            <a:ext cx="77724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48006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Entity 实体定义 (User/Role/ImportLog/...)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DTO 数据传输对象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Service 接口 (IAuthService/...)</a:t>
            </a:r>
          </a:p>
          <a:p>
            <a:pPr algn="l">
              <a:spcAft>
                <a:spcPts val="78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Config Models (LdapSettings)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828800" y="2743200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1828800" y="4389120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前端：React 19 SPA → Axios + JWT Interceptor → REST API → JSON 响应 (ApiResponse&lt;T&gt;)  |  部署：Docker Compose (API + Nginx + SQL Server)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核心功能全景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FEATURE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📊</a:t>
            </a:r>
            <a:br/>
            <a:r>
              <a:t>数据导入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Excel/CSV 智能导入</a:t>
            </a:r>
            <a:br/>
            <a:r>
              <a:t>两步流程 + 异步轮询</a:t>
            </a:r>
            <a:br/>
            <a:r>
              <a:t>自动列映射</a:t>
            </a:r>
            <a:br/>
            <a:r>
              <a:t>批次处理 (100~10000行)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98AD"/>
                </a:solidFill>
                <a:latin typeface="Microsoft YaHei"/>
              </a:defRPr>
            </a:pPr>
            <a:r>
              <a:t>🔐</a:t>
            </a:r>
            <a:br/>
            <a:r>
              <a:t>认证安全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JWT + BCrypt + LDAP</a:t>
            </a:r>
            <a:br/>
            <a:r>
              <a:t>SVG验证码防机器人</a:t>
            </a:r>
            <a:br/>
            <a:r>
              <a:t>速率限制 &amp; 账号锁定</a:t>
            </a:r>
            <a:br/>
            <a:r>
              <a:t>登录审计全量记录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5087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AE5F"/>
                </a:solidFill>
                <a:latin typeface="Microsoft YaHei"/>
              </a:defRPr>
            </a:pPr>
            <a:r>
              <a:t>👥</a:t>
            </a:r>
            <a:br/>
            <a:r>
              <a:t>权限管理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三级角色 (A/O/V)</a:t>
            </a:r>
            <a:br/>
            <a:r>
              <a:t>8+1 细粒度权限</a:t>
            </a:r>
            <a:br/>
            <a:r>
              <a:t>表级数据库权限</a:t>
            </a:r>
            <a:br/>
            <a:r>
              <a:t>RBAC 前后端双控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Microsoft YaHei"/>
              </a:defRPr>
            </a:pPr>
            <a:r>
              <a:t>🖥️</a:t>
            </a:r>
            <a:br/>
            <a:r>
              <a:t>多服务器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多 SQL Server 注册</a:t>
            </a:r>
            <a:br/>
            <a:r>
              <a:t>跨服务器数据导入</a:t>
            </a:r>
            <a:br/>
            <a:r>
              <a:t>连接测试 &amp; 缓存</a:t>
            </a:r>
            <a:br/>
            <a:r>
              <a:t>优雅降级容错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35661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160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📋</a:t>
            </a:r>
            <a:br/>
            <a:r>
              <a:t>审计日志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20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导入操作日志</a:t>
            </a:r>
            <a:br/>
            <a:r>
              <a:t>登录审计日志</a:t>
            </a:r>
            <a:br/>
            <a:r>
              <a:t>IP/UA 全量记录</a:t>
            </a:r>
            <a:br/>
            <a:r>
              <a:t>分页搜索过滤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931920"/>
            <a:ext cx="356616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4160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Microsoft YaHei"/>
              </a:defRPr>
            </a:pPr>
            <a:r>
              <a:t>🌐</a:t>
            </a:r>
            <a:br/>
            <a:r>
              <a:t>企业集成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20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LDAP/AD 域认证</a:t>
            </a:r>
            <a:br/>
            <a:r>
              <a:t>运行时配置即时生效</a:t>
            </a:r>
            <a:br/>
            <a:r>
              <a:t>HTTPS + 内部 CA</a:t>
            </a:r>
            <a:br/>
            <a:r>
              <a:t>Docker 离线部署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认证与安全体系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AUTHENTICATION &amp; SECURITY — 10+ 层安全防护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06 / 14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28016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① CAPTCHA</a:t>
            </a:r>
            <a:br/>
            <a:r>
              <a:t>验证码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SVG 4位验证码</a:t>
            </a:r>
            <a:br/>
            <a:r>
              <a:t>每次登录必填</a:t>
            </a:r>
            <a:br/>
            <a:r>
              <a:t>5分钟过期</a:t>
            </a:r>
            <a:br/>
            <a:r>
              <a:t>自动刷新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1280160"/>
            <a:ext cx="548640" cy="548640"/>
          </a:xfrm>
          <a:prstGeom prst="ellipse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② Rate Limit</a:t>
            </a:r>
            <a:br/>
            <a:r>
              <a:t>速率限制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固定窗口算法</a:t>
            </a:r>
            <a:br/>
            <a:r>
              <a:t>10次/分钟/IP</a:t>
            </a:r>
            <a:br/>
            <a:r>
              <a:t>超限返回 503</a:t>
            </a:r>
            <a:br/>
            <a:r>
              <a:t>框架内置保护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128016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③ Account</a:t>
            </a:r>
            <a:br/>
            <a:r>
              <a:t>Lockout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5次失败→锁定</a:t>
            </a:r>
            <a:br/>
            <a:r>
              <a:t>15分钟自动解锁</a:t>
            </a:r>
            <a:br/>
            <a:r>
              <a:t>防暴力猜解</a:t>
            </a:r>
            <a:br/>
            <a:r>
              <a:t>防用户名枚举</a:t>
            </a:r>
          </a:p>
        </p:txBody>
      </p:sp>
      <p:sp>
        <p:nvSpPr>
          <p:cNvPr id="17" name="Oval 16"/>
          <p:cNvSpPr/>
          <p:nvPr/>
        </p:nvSpPr>
        <p:spPr>
          <a:xfrm>
            <a:off x="6903720" y="1280160"/>
            <a:ext cx="548640" cy="548640"/>
          </a:xfrm>
          <a:prstGeom prst="ellipse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④ JWT</a:t>
            </a:r>
            <a:br/>
            <a:r>
              <a:t>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BCrypt 密码哈希</a:t>
            </a:r>
            <a:br/>
            <a:r>
              <a:t>Claims 权限嵌入</a:t>
            </a:r>
            <a:br/>
            <a:r>
              <a:t>24小时过期</a:t>
            </a:r>
            <a:br/>
            <a:r>
              <a:t>Bearer 认证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128016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⑤ LDAP</a:t>
            </a:r>
            <a:br/>
            <a:r>
              <a:t>认证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LDAP Filter 转义</a:t>
            </a:r>
            <a:br/>
            <a:r>
              <a:t>SSL/TLS 加密</a:t>
            </a:r>
            <a:br/>
            <a:r>
              <a:t>防注入攻击</a:t>
            </a:r>
            <a:br/>
            <a:r>
              <a:t>用完即释放</a:t>
            </a:r>
          </a:p>
        </p:txBody>
      </p:sp>
      <p:sp>
        <p:nvSpPr>
          <p:cNvPr id="23" name="Oval 22"/>
          <p:cNvSpPr/>
          <p:nvPr/>
        </p:nvSpPr>
        <p:spPr>
          <a:xfrm>
            <a:off x="10835640" y="1280160"/>
            <a:ext cx="548640" cy="548640"/>
          </a:xfrm>
          <a:prstGeom prst="ellipse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⑥ Audit</a:t>
            </a:r>
            <a:br/>
            <a:r>
              <a:t>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登录全量记录</a:t>
            </a:r>
            <a:br/>
            <a:r>
              <a:t>IP + UserAgent</a:t>
            </a:r>
            <a:br/>
            <a:r>
              <a:t>成功/失败追踪</a:t>
            </a:r>
            <a:br/>
            <a:r>
              <a:t>仅 Admin 可查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AE5F"/>
                </a:solidFill>
                <a:latin typeface="Microsoft YaHei"/>
              </a:defRPr>
            </a:pPr>
            <a:r>
              <a:t>🛡️  安全特性亮点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• CAPTCHA + 速率限制 + 账号锁定 三道防线防暴力破解    • 登录审计日志全量记录，支持安全事件追溯</a:t>
            </a:r>
          </a:p>
          <a:p>
            <a:pPr algn="l">
              <a:spcAft>
                <a:spcPts val="639"/>
              </a:spcAft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• SVG 纯代码生成验证码，零原生依赖，Docker 跨平台兼容    • SQL 参数化查询 + LDAP Filter 转义，防止注入攻击</a:t>
            </a:r>
          </a:p>
          <a:p>
            <a:pPr algn="l">
              <a:spcAft>
                <a:spcPts val="639"/>
              </a:spcAft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• 前端 autoComplete=off 防浏览器密码管理器覆盖    • 内部 CA 证书 + HTTPS 加密传输，防止中间人攻击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Excel / CSV 数据导入流程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IMPORT WORKFLOW — 两步流程 + 异步轮询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① 上传与配置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47472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选择目标服务器 (本地/远程)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选择数据库和数据表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上传 Excel/CSV 文件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配置文件选项: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- 包含表头 (默认开启)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- 事务模式 (原子性保证)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- 批次大小 (100~10000)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201168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3474720" cy="548640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② 列映射与预览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920240"/>
            <a:ext cx="347472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自动读取文件列名和示例数据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智能列映射 (不区分大小写)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手动调整未映射的列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跳过不需要导入的列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自增列 / 主键自动跳过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预览最多 5 行示例数据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12480" y="201168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743200" cy="548640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③ Fire-and-Forget 异步执行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920240"/>
            <a:ext cx="27432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立即返回 taskId</a:t>
            </a:r>
          </a:p>
          <a:p>
            <a:pPr algn="l"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后台异步批量导入</a:t>
            </a:r>
          </a:p>
          <a:p>
            <a:pPr algn="l"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参数化 SQL 防注入</a:t>
            </a:r>
          </a:p>
          <a:p>
            <a:pPr algn="l"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批量插入 (默认1000行)</a:t>
            </a:r>
          </a:p>
          <a:p>
            <a:pPr algn="l"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可选事务保证原子性</a:t>
            </a:r>
          </a:p>
          <a:p>
            <a:pPr algn="l"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错误行收集与记录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④ 实时进度轮询 (每 500ms)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937760"/>
            <a:ext cx="731520" cy="73152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等待中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737360" y="5166360"/>
            <a:ext cx="45720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08960" y="49377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reading</a:t>
            </a:r>
            <a:br/>
            <a:r>
              <a:t>读取文件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31920" y="5166360"/>
            <a:ext cx="45720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03520" y="4937760"/>
            <a:ext cx="731520" cy="7315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importing</a:t>
            </a:r>
            <a:br/>
            <a:r>
              <a:t>导入中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126480" y="5166360"/>
            <a:ext cx="45720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98079" y="4937760"/>
            <a:ext cx="731520" cy="731520"/>
          </a:xfrm>
          <a:prstGeom prst="ellipse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  <a:br/>
            <a:r>
              <a:t>完成 ✓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321039" y="5166360"/>
            <a:ext cx="45720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92640" y="493776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failed</a:t>
            </a:r>
            <a:br/>
            <a:r>
              <a:t>失败 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技术要点: Fire-and-Forget 模式 | ConcurrentDictionary 内存进度追踪 | IServiceScopeFactory 作用域管理 | 最大 200MB 文件 | 动态目标表 INSERT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多 SQL Server 实例支持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MULTI-SERVER SUPPORT — 跨服务器数据导入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IConnectionFactory (Singleton)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serverId=null → 本地 SQL Server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serverId=N   → 远程 SQL Server 实例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ConcurrentDictionary 缓存连接字符串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懒加载数据库→服务器映射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ChangeDatabase() 上下文切换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远程不可达时优雅降级 (仅 LogWarning)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INVALIDATE CACHE 缓存失效机制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跨服务器操作: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数据库发现 (sys.databases)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表/列元数据查询 (INFORMATION_SCHEMA)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数据导入 (SqlBulkCopy / Raw INSERT)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表级权限验证 (含 ServerId)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ImportLog 记录 ServerId + ServerName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98AD"/>
                </a:solidFill>
                <a:latin typeface="Microsoft YaHei"/>
              </a:defRPr>
            </a:pPr>
            <a:r>
              <a:t>前端复合键模式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多服务器可能有同名数据库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下拉选项使用复合键: ${serverId}::${dbName}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解析: serverId=0 → undefined (本地)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显示: [ServerName] DatabaseName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表级权限树按服务器分组展示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AE5F"/>
                </a:solidFill>
                <a:latin typeface="Microsoft YaHei"/>
              </a:defRPr>
            </a:pPr>
            <a:r>
              <a:t>ServerController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GET    /</a:t>
            </a:r>
            <a:r>
              <a:rPr dirty="0" err="1"/>
              <a:t>api</a:t>
            </a:r>
            <a:r>
              <a:rPr dirty="0"/>
              <a:t>/server          — </a:t>
            </a:r>
            <a:r>
              <a:rPr dirty="0" err="1"/>
              <a:t>列出所有服务器</a:t>
            </a:r>
            <a:endParaRPr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GET    /</a:t>
            </a:r>
            <a:r>
              <a:rPr dirty="0" err="1"/>
              <a:t>api</a:t>
            </a:r>
            <a:r>
              <a:rPr dirty="0"/>
              <a:t>/server/{id}     — </a:t>
            </a:r>
            <a:r>
              <a:rPr dirty="0" err="1"/>
              <a:t>获取服务器详情</a:t>
            </a:r>
            <a:endParaRPr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POST   /</a:t>
            </a:r>
            <a:r>
              <a:rPr dirty="0" err="1"/>
              <a:t>api</a:t>
            </a:r>
            <a:r>
              <a:rPr dirty="0"/>
              <a:t>/server          — </a:t>
            </a:r>
            <a:r>
              <a:rPr dirty="0" err="1"/>
              <a:t>注册新服务器</a:t>
            </a:r>
            <a:r>
              <a:rPr dirty="0"/>
              <a:t> (</a:t>
            </a:r>
            <a:r>
              <a:rPr dirty="0" err="1"/>
              <a:t>ServerManage</a:t>
            </a:r>
            <a:r>
              <a:rPr dirty="0"/>
              <a:t>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PUT    /</a:t>
            </a:r>
            <a:r>
              <a:rPr dirty="0" err="1"/>
              <a:t>api</a:t>
            </a:r>
            <a:r>
              <a:rPr dirty="0"/>
              <a:t>/server/{id}     — </a:t>
            </a:r>
            <a:r>
              <a:rPr dirty="0" err="1"/>
              <a:t>更新服务器配置</a:t>
            </a:r>
            <a:endParaRPr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DELETE /</a:t>
            </a:r>
            <a:r>
              <a:rPr dirty="0" err="1"/>
              <a:t>api</a:t>
            </a:r>
            <a:r>
              <a:rPr dirty="0"/>
              <a:t>/server/{id}     — </a:t>
            </a:r>
            <a:r>
              <a:rPr dirty="0" err="1"/>
              <a:t>删除</a:t>
            </a:r>
            <a:r>
              <a:rPr dirty="0"/>
              <a:t> (</a:t>
            </a:r>
            <a:r>
              <a:rPr dirty="0" err="1"/>
              <a:t>检查关联权限</a:t>
            </a:r>
            <a:r>
              <a:rPr dirty="0"/>
              <a:t>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POST   /</a:t>
            </a:r>
            <a:r>
              <a:rPr dirty="0" err="1"/>
              <a:t>api</a:t>
            </a:r>
            <a:r>
              <a:rPr dirty="0"/>
              <a:t>/server/test     — </a:t>
            </a:r>
            <a:r>
              <a:rPr dirty="0" err="1"/>
              <a:t>测试连接字符串</a:t>
            </a:r>
            <a:endParaRPr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ServerId</a:t>
            </a:r>
            <a:r>
              <a:rPr dirty="0"/>
              <a:t> </a:t>
            </a:r>
            <a:r>
              <a:rPr dirty="0" err="1"/>
              <a:t>在所有层级传播</a:t>
            </a:r>
            <a:r>
              <a:rPr dirty="0"/>
              <a:t>: DTO → Service → Controller → </a:t>
            </a:r>
            <a:r>
              <a:rPr dirty="0" err="1"/>
              <a:t>FormData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权限控制体系 — RBAC + 表级权限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15347"/>
            <a:ext cx="3566160" cy="651509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3363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Admin</a:t>
            </a:r>
            <a:br>
              <a:rPr dirty="0"/>
            </a:br>
            <a:r>
              <a:rPr dirty="0" err="1"/>
              <a:t>管理员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57200" y="1663987"/>
            <a:ext cx="3566160" cy="1845943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0970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✓ Import.Execute</a:t>
            </a:r>
            <a:br/>
            <a:r>
              <a:t>  ✓ Import.View</a:t>
            </a:r>
            <a:br/>
            <a:r>
              <a:t>  ✓ User.Manage</a:t>
            </a:r>
            <a:br/>
            <a:r>
              <a:t>  ✓ Role.Manage</a:t>
            </a:r>
            <a:br/>
            <a:r>
              <a:t>  ✓ Log.View</a:t>
            </a:r>
            <a:br/>
            <a:r>
              <a:t>  ✓ Audit.View</a:t>
            </a:r>
            <a:br/>
            <a:r>
              <a:t>  ✓ Database.Manage</a:t>
            </a:r>
            <a:br/>
            <a:r>
              <a:t>  ✓ System.Manage</a:t>
            </a:r>
            <a:br/>
            <a:r>
              <a:t>  ✓ Server.View</a:t>
            </a:r>
            <a:br/>
            <a:r>
              <a:t>  ✓ Server.Manage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15347"/>
            <a:ext cx="3566160" cy="651509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13363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Operator</a:t>
            </a:r>
            <a:br/>
            <a:r>
              <a:t>操作员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63987"/>
            <a:ext cx="3566160" cy="1845943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70970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✓ Import.Execute</a:t>
            </a:r>
            <a:br/>
            <a:r>
              <a:t>  ✓ Import.View</a:t>
            </a:r>
            <a:br/>
            <a:r>
              <a:t>  ✓ Log.View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15347"/>
            <a:ext cx="3566160" cy="651509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13363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Viewer</a:t>
            </a:r>
            <a:br/>
            <a:r>
              <a:t>查看者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63987"/>
            <a:ext cx="3566160" cy="1845943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0970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✓ Import.View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823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表级数据库权限 (Table-Level Access Control)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39584"/>
            <a:ext cx="5669280" cy="240693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31025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rPr dirty="0" err="1"/>
              <a:t>权限粒度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整库授权</a:t>
            </a:r>
            <a:r>
              <a:rPr dirty="0"/>
              <a:t> (Wildcard): </a:t>
            </a:r>
            <a:r>
              <a:rPr dirty="0" err="1"/>
              <a:t>用户可导入该库所有表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逐表授权</a:t>
            </a:r>
            <a:r>
              <a:rPr dirty="0"/>
              <a:t> (Specific): </a:t>
            </a:r>
            <a:r>
              <a:rPr dirty="0" err="1"/>
              <a:t>仅允许导入指定表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按服务器独立管理</a:t>
            </a:r>
            <a:r>
              <a:rPr dirty="0"/>
              <a:t> (含 </a:t>
            </a:r>
            <a:r>
              <a:rPr dirty="0" err="1"/>
              <a:t>ServerId</a:t>
            </a:r>
            <a:r>
              <a:rPr dirty="0"/>
              <a:t> </a:t>
            </a:r>
            <a:r>
              <a:rPr dirty="0" err="1"/>
              <a:t>过滤</a:t>
            </a:r>
            <a:r>
              <a:rPr dirty="0"/>
              <a:t>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向后兼容</a:t>
            </a:r>
            <a:r>
              <a:rPr dirty="0"/>
              <a:t>: v1.0 </a:t>
            </a:r>
            <a:r>
              <a:rPr dirty="0" err="1"/>
              <a:t>整库权限自动转为</a:t>
            </a:r>
            <a:r>
              <a:rPr dirty="0"/>
              <a:t> Wildcard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Admin </a:t>
            </a:r>
            <a:r>
              <a:rPr dirty="0" err="1"/>
              <a:t>默认拥有全部数据库和表的访问权限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非 Admin </a:t>
            </a:r>
            <a:r>
              <a:rPr dirty="0" err="1"/>
              <a:t>用户仅能看到被授权的表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400800" y="4039584"/>
            <a:ext cx="5303520" cy="240693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131025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1500" b="1">
                <a:solidFill>
                  <a:srgbClr val="1098AD"/>
                </a:solidFill>
                <a:latin typeface="Microsoft YaHei"/>
              </a:defRPr>
            </a:pPr>
            <a:r>
              <a:rPr dirty="0" err="1"/>
              <a:t>双重验证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前端</a:t>
            </a:r>
            <a:r>
              <a:rPr dirty="0"/>
              <a:t> UI </a:t>
            </a:r>
            <a:r>
              <a:rPr dirty="0" err="1"/>
              <a:t>控制</a:t>
            </a:r>
            <a:r>
              <a:rPr dirty="0"/>
              <a:t> (</a:t>
            </a:r>
            <a:r>
              <a:rPr dirty="0" err="1"/>
              <a:t>hasPermission</a:t>
            </a:r>
            <a:r>
              <a:rPr dirty="0"/>
              <a:t>):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  • </a:t>
            </a:r>
            <a:r>
              <a:rPr dirty="0" err="1"/>
              <a:t>菜单项显示</a:t>
            </a:r>
            <a:r>
              <a:rPr dirty="0"/>
              <a:t>/</a:t>
            </a:r>
            <a:r>
              <a:rPr dirty="0" err="1"/>
              <a:t>隐藏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  • </a:t>
            </a:r>
            <a:r>
              <a:rPr dirty="0" err="1"/>
              <a:t>按钮启用</a:t>
            </a:r>
            <a:r>
              <a:rPr dirty="0"/>
              <a:t>/</a:t>
            </a:r>
            <a:r>
              <a:rPr dirty="0" err="1"/>
              <a:t>禁用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  • </a:t>
            </a:r>
            <a:r>
              <a:rPr dirty="0" err="1"/>
              <a:t>下拉选项过滤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后端</a:t>
            </a:r>
            <a:r>
              <a:rPr dirty="0"/>
              <a:t> API </a:t>
            </a:r>
            <a:r>
              <a:rPr dirty="0" err="1"/>
              <a:t>验证</a:t>
            </a:r>
            <a:r>
              <a:rPr dirty="0"/>
              <a:t> (Authorization Policy):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  • Controller [Authorize] + Policy</a:t>
            </a:r>
            <a:endParaRPr lang="en-US"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lang="en-US" dirty="0"/>
              <a:t>  • </a:t>
            </a:r>
            <a:r>
              <a:rPr lang="en-US" dirty="0" err="1"/>
              <a:t>ImportService.ValidateAccess</a:t>
            </a:r>
            <a:r>
              <a:rPr lang="en-US" dirty="0"/>
              <a:t>()</a:t>
            </a:r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  → Preview 和 Execute </a:t>
            </a:r>
            <a:r>
              <a:rPr dirty="0" err="1"/>
              <a:t>均校验</a:t>
            </a:r>
            <a:endParaRPr dirty="0"/>
          </a:p>
          <a:p>
            <a:pPr algn="l">
              <a:spcAft>
                <a:spcPts val="179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  → </a:t>
            </a:r>
            <a:r>
              <a:rPr dirty="0" err="1"/>
              <a:t>即使绕过前端也无法越权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LDAP / Active Directory 域集成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ENTERPRISE AD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0352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认证流程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1. 用户输入域账号 + 域密码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2. 系统尝试本地 BCrypt 认证 → 失败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3. 使用服务账号绑定 LDAP 服务器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4. SearchRequest 查找用户 DN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5. 使用用户 DN + 密码进行 Bind 验证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6. 成功 → 自动创建本地用户 (Viewer 角色) → 签发 JWT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7. 失败 → 记录失败次数，达阈值锁定账号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98AD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75488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400" b="1">
                <a:solidFill>
                  <a:srgbClr val="1098AD"/>
                </a:solidFill>
                <a:latin typeface="Microsoft YaHei"/>
              </a:defRPr>
            </a:pPr>
            <a:r>
              <a:rPr dirty="0" err="1"/>
              <a:t>System.DirectoryServices.Protocols</a:t>
            </a:r>
            <a:r>
              <a:rPr dirty="0"/>
              <a:t> (S.DS.P)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.NET </a:t>
            </a:r>
            <a:r>
              <a:rPr dirty="0" err="1"/>
              <a:t>内置库，无需额外</a:t>
            </a:r>
            <a:r>
              <a:rPr dirty="0"/>
              <a:t> NuGet 包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跨平台</a:t>
            </a:r>
            <a:r>
              <a:rPr dirty="0"/>
              <a:t>: Windows / Linux / macOS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支持</a:t>
            </a:r>
            <a:r>
              <a:rPr dirty="0"/>
              <a:t> SSL/TLS </a:t>
            </a:r>
            <a:r>
              <a:rPr dirty="0" err="1"/>
              <a:t>加密</a:t>
            </a:r>
            <a:r>
              <a:rPr dirty="0"/>
              <a:t> (LDAPS :636)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LDAP Filter </a:t>
            </a:r>
            <a:r>
              <a:rPr dirty="0" err="1"/>
              <a:t>转义防注入攻击</a:t>
            </a:r>
            <a:endParaRPr dirty="0"/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连接用完即释放</a:t>
            </a:r>
            <a:r>
              <a:rPr dirty="0"/>
              <a:t> (using </a:t>
            </a:r>
            <a:r>
              <a:rPr dirty="0" err="1"/>
              <a:t>模式</a:t>
            </a:r>
            <a:r>
              <a:rPr dirty="0"/>
              <a:t>)</a:t>
            </a:r>
          </a:p>
          <a:p>
            <a:pPr algn="l">
              <a:spcAft>
                <a:spcPts val="65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服务账号密码支持环境变量注入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运行时配置 — 即时生效，无需重启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25AE5F"/>
                </a:solidFill>
                <a:latin typeface="Microsoft YaHei"/>
              </a:defRPr>
            </a:pPr>
            <a:r>
              <a:t>appsettings.json (初始默认)  →  SystemSettings 表 (持久化)  →  LdapSettingsProvider (内存缓存)  →  LdapService</a:t>
            </a:r>
          </a:p>
          <a:p>
            <a:pPr algn="l">
              <a:spcAft>
                <a:spcPts val="48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480"/>
              </a:spcAft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• 管理员可通过「系统设置」Web 页面修改 LDAP 配置，保存后即时生效，无需重启服务或修改配置文件</a:t>
            </a:r>
          </a:p>
          <a:p>
            <a:pPr algn="l">
              <a:spcAft>
                <a:spcPts val="480"/>
              </a:spcAft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• 支持测试连接功能：输入域账号密码验证 LDAP 配置是否可用    • 配置优先级：数据库中的配置 &gt; appsettings.json 文件配置</a:t>
            </a:r>
          </a:p>
          <a:p>
            <a:pPr algn="l">
              <a:spcAft>
                <a:spcPts val="480"/>
              </a:spcAft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• 可配置项: 启用开关 / 服务器地址 / 端口 / SSL / 域名 / Base DN / 用户过滤器模板 / 服务账号凭据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Docker 部署 &amp; HTTPS 安全方案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DEPLOYMENT &amp; HTTPS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9642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Docker 容器化部署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75488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docker compose up -d  </a:t>
            </a:r>
            <a:r>
              <a:rPr sz="1300" dirty="0" err="1"/>
              <a:t>一键启动</a:t>
            </a:r>
            <a:endParaRPr sz="1300"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• API </a:t>
            </a:r>
            <a:r>
              <a:rPr sz="1300" dirty="0" err="1"/>
              <a:t>容器</a:t>
            </a:r>
            <a:r>
              <a:rPr sz="1300" dirty="0"/>
              <a:t> (</a:t>
            </a:r>
            <a:r>
              <a:rPr sz="1300" dirty="0" err="1"/>
              <a:t>excelimportsystem-api</a:t>
            </a:r>
            <a:r>
              <a:rPr sz="1300" dirty="0"/>
              <a:t>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  - .NET 10 ASP.NET Core </a:t>
            </a:r>
            <a:r>
              <a:rPr sz="1300" dirty="0" err="1"/>
              <a:t>应用</a:t>
            </a:r>
            <a:endParaRPr sz="1300"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  - </a:t>
            </a:r>
            <a:r>
              <a:rPr sz="1300" dirty="0" err="1"/>
              <a:t>端口映射</a:t>
            </a:r>
            <a:r>
              <a:rPr sz="1300" dirty="0"/>
              <a:t>: Host 5001 → Container 5000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• Frontend </a:t>
            </a:r>
            <a:r>
              <a:rPr sz="1300" dirty="0" err="1"/>
              <a:t>容器</a:t>
            </a:r>
            <a:r>
              <a:rPr sz="1300" dirty="0"/>
              <a:t> (</a:t>
            </a:r>
            <a:r>
              <a:rPr sz="1300" dirty="0" err="1"/>
              <a:t>excelimportsystem</a:t>
            </a:r>
            <a:r>
              <a:rPr sz="1300" dirty="0"/>
              <a:t>-frontend)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  - Nginx + React </a:t>
            </a:r>
            <a:r>
              <a:rPr sz="1300" dirty="0" err="1"/>
              <a:t>静态文件</a:t>
            </a:r>
            <a:endParaRPr sz="1300"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  - HTTP :80 + HTTPS :443 </a:t>
            </a:r>
            <a:r>
              <a:rPr sz="1300" dirty="0" err="1"/>
              <a:t>双端口</a:t>
            </a:r>
            <a:endParaRPr sz="1300"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• SQL Server: </a:t>
            </a:r>
            <a:r>
              <a:rPr sz="1300" dirty="0" err="1"/>
              <a:t>外部数据库</a:t>
            </a:r>
            <a:endParaRPr sz="1300" dirty="0"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sz="1300" dirty="0"/>
              <a:t>  - </a:t>
            </a:r>
            <a:r>
              <a:rPr sz="1300" dirty="0" err="1"/>
              <a:t>通过</a:t>
            </a:r>
            <a:r>
              <a:rPr sz="1300" dirty="0"/>
              <a:t> </a:t>
            </a:r>
            <a:r>
              <a:rPr sz="1300" dirty="0" err="1"/>
              <a:t>host.docker.internal</a:t>
            </a:r>
            <a:r>
              <a:rPr sz="1300" dirty="0"/>
              <a:t> </a:t>
            </a:r>
            <a:r>
              <a:rPr sz="1300" dirty="0" err="1"/>
              <a:t>连接宿主机</a:t>
            </a:r>
            <a:endParaRPr sz="1300" dirty="0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29642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98AD"/>
                </a:solidFill>
                <a:latin typeface="Microsoft YaHei"/>
              </a:defRPr>
            </a:pPr>
            <a:r>
              <a:t>HTTPS 自建 CA 证书方案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内部 CA 签发服务器证书，无需公网域名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ca.crt — CA 根证书 (有效期 10 年)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server.crt — 服务器证书 (CN=服务器IP)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HTTP → HTTPS 301 强制重定向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TLS 1.2 / 1.3, 禁用旧协议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HSTS Header (max-age=31536000)</a:t>
            </a:r>
          </a:p>
          <a:p>
            <a:pPr algn="l">
              <a:spcAft>
                <a:spcPts val="519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企业环境通过 GPO 自动分发 CA 证书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15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 dirty="0" err="1"/>
              <a:t>离线部署包</a:t>
            </a:r>
            <a:r>
              <a:rPr dirty="0"/>
              <a:t> (offline-deploy/)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excelimportsystem-</a:t>
            </a:r>
            <a:br/>
            <a:r>
              <a:t>api.tar.gz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后端镜像</a:t>
            </a:r>
            <a:br/>
            <a:r>
              <a:t>~135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48646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excelimportsystem-</a:t>
            </a:r>
            <a:br/>
            <a:r>
              <a:t>frontend.tar.gz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前端镜像</a:t>
            </a:r>
            <a:br/>
            <a:r>
              <a:t>~32 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48646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docker-compose.yml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编排文件</a:t>
            </a:r>
            <a:br/>
            <a:r>
              <a:t>(image: 模式)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8646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generate-cert</a:t>
            </a:r>
            <a:br/>
            <a:r>
              <a:t>.sh / .bat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证书生成</a:t>
            </a:r>
            <a:br/>
            <a:r>
              <a:t>脚本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48646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nginx-https.conf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HTTPS</a:t>
            </a:r>
            <a:br/>
            <a:r>
              <a:t>配置模板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0" y="48646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deploy.sh / .bat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一键部署</a:t>
            </a:r>
            <a:br/>
            <a:r>
              <a:t>脚本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系统界面展示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UI SHOWCASE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登录页面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验证码 + 双重认证</a:t>
            </a:r>
            <a:br/>
            <a:r>
              <a:t>安全防护提示</a:t>
            </a:r>
            <a:br/>
            <a:r>
              <a:t>中英文切换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502920"/>
          </a:xfrm>
          <a:prstGeom prst="rect">
            <a:avLst/>
          </a:prstGeom>
          <a:solidFill>
            <a:srgbClr val="109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仪表板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统计卡片 (导入次数/行数)</a:t>
            </a:r>
            <a:br/>
            <a:r>
              <a:t>Admin 看全部 / 用户看自己</a:t>
            </a:r>
            <a:br/>
            <a:r>
              <a:t>实时数据汇总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502920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数据导入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服务器→数据库→表 三级选择</a:t>
            </a:r>
            <a:br/>
            <a:r>
              <a:t>文件拖拽上传</a:t>
            </a:r>
            <a:br/>
            <a:r>
              <a:t>列映射可视化</a:t>
            </a:r>
            <a:br/>
            <a:r>
              <a:t>实时进度轮询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5661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用户管理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CRUD 操作</a:t>
            </a:r>
            <a:br/>
            <a:r>
              <a:t>AD 关联/解除</a:t>
            </a:r>
            <a:br/>
            <a:r>
              <a:t>数据库权限配置</a:t>
            </a:r>
            <a:br/>
            <a:r>
              <a:t>密码重置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35661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服务器管理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多 SQL Server 注册</a:t>
            </a:r>
            <a:br/>
            <a:r>
              <a:t>连接测试</a:t>
            </a:r>
            <a:br/>
            <a:r>
              <a:t>启用/禁用开关</a:t>
            </a:r>
            <a:br/>
            <a:r>
              <a:t>编辑与删除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356616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931920"/>
            <a:ext cx="3566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3977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导入日志 &amp; 审计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导入记录查询 (表名/状态/日期)</a:t>
            </a:r>
            <a:br/>
            <a:r>
              <a:t>登录审计 (用户名/IP/状态/原因)</a:t>
            </a:r>
            <a:br/>
            <a:r>
              <a:t>分页浏览，详情感知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USE CASES &amp;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Excel Import System | 企业级数据导入平台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🏭</a:t>
            </a:r>
            <a:br/>
            <a:r>
              <a:t>制造业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ERP/SCADA </a:t>
            </a:r>
            <a:r>
              <a:rPr dirty="0" err="1"/>
              <a:t>数据入库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914400" cy="36576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23774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ERP </a:t>
            </a:r>
            <a:r>
              <a:rPr dirty="0" err="1"/>
              <a:t>报表自动导入</a:t>
            </a:r>
            <a:endParaRPr dirty="0"/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多工作表</a:t>
            </a:r>
            <a:r>
              <a:rPr dirty="0"/>
              <a:t> Excel </a:t>
            </a:r>
            <a:r>
              <a:rPr dirty="0" err="1"/>
              <a:t>自动识别</a:t>
            </a:r>
            <a:endParaRPr dirty="0"/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空 Sheet </a:t>
            </a:r>
            <a:r>
              <a:rPr dirty="0" err="1"/>
              <a:t>占位符智能跳过</a:t>
            </a:r>
            <a:endParaRPr dirty="0"/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支持</a:t>
            </a:r>
            <a:r>
              <a:rPr dirty="0"/>
              <a:t> .</a:t>
            </a:r>
            <a:r>
              <a:rPr dirty="0" err="1"/>
              <a:t>xls</a:t>
            </a:r>
            <a:r>
              <a:rPr dirty="0"/>
              <a:t> </a:t>
            </a:r>
            <a:r>
              <a:rPr dirty="0" err="1"/>
              <a:t>旧格式</a:t>
            </a:r>
            <a:r>
              <a:rPr dirty="0"/>
              <a:t> (97-2003)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371600"/>
            <a:ext cx="274320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37160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🏦</a:t>
            </a:r>
            <a:br/>
            <a:r>
              <a:t>金融保险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业务数据批量导入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880360"/>
            <a:ext cx="914400" cy="36576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30632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理赔/核保数据批量入库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事务模式保证原子性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完整操作日志可追溯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表级权限隔离敏感数据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274320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🏢</a:t>
            </a:r>
            <a:br/>
            <a:r>
              <a:t>集团企业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多子公司数据汇聚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880360"/>
            <a:ext cx="914400" cy="36576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0632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多 SQL Server 实例统一管理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AD 域账号集成单点登录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RBAC 角色权限分级管控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HTTPS + CA 证书安全传输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371600"/>
            <a:ext cx="2743200" cy="4846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🏗️</a:t>
            </a:r>
            <a:br/>
            <a:r>
              <a:t>中小企业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轻量级数据中台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880360"/>
            <a:ext cx="914400" cy="36576"/>
          </a:xfrm>
          <a:prstGeom prst="rect">
            <a:avLst/>
          </a:prstGeom>
          <a:solidFill>
            <a:srgbClr val="25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30632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Docker Compose 一键部署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离线部署包，无需公网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CSV/TSV/TXT 多种格式支持</a:t>
            </a:r>
          </a:p>
          <a:p>
            <a:pPr algn="l">
              <a:spcAft>
                <a:spcPts val="104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零代码添加新导入目标表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3566160" cy="192024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AE5F"/>
                </a:solidFill>
                <a:latin typeface="Microsoft YaHei"/>
              </a:defRPr>
            </a:pPr>
            <a:r>
              <a:t>🚀  开箱即用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Docker 一键部署，零代码添加新导入目标，30分钟完成从部署到首次导入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920240"/>
            <a:ext cx="3566160" cy="192024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AE5F"/>
                </a:solidFill>
                <a:latin typeface="Microsoft YaHei"/>
              </a:defRPr>
            </a:pPr>
            <a:r>
              <a:t>🛡️  安全合规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10+ 层安全防护，完整审计日志，满足企业安全审计和合规要求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3566160" cy="192024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AE5F"/>
                </a:solidFill>
                <a:latin typeface="Microsoft YaHei"/>
              </a:defRPr>
            </a:pPr>
            <a:r>
              <a:t>⚡  高性能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异步 Fire-and-Forget + 批次处理，200MB 大文件稳定导入，实时进度反馈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566160" cy="192024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AE5F"/>
                </a:solidFill>
                <a:latin typeface="Microsoft YaHei"/>
              </a:defRPr>
            </a:pPr>
            <a:r>
              <a:t>🏢  企业级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LDAP/AD 集成，RBAC 权限控制，多服务器支持，HTTPS 内部 CA 证书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114800"/>
            <a:ext cx="3566160" cy="192024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AE5F"/>
                </a:solidFill>
                <a:latin typeface="Microsoft YaHei"/>
              </a:defRPr>
            </a:pPr>
            <a:r>
              <a:t>🎨  易用性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Web 化操作界面，中英文双语，智能列映射，拖拽上传，实时进度可视化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114800"/>
            <a:ext cx="3566160" cy="192024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AE5F"/>
                </a:solidFill>
                <a:latin typeface="Microsoft YaHei"/>
              </a:defRPr>
            </a:pPr>
            <a:r>
              <a:t>🔧  可扩展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Microsoft YaHei"/>
              </a:defRPr>
            </a:pPr>
            <a:r>
              <a:t>Clean Architecture 架构清晰，动态表发现，新权限/新角色易于添加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技术栈: .NET 10 + React 19 + SQL Server  |  Clean Architecture  |  JWT + LDAP  |  Docker 容器化  |  Version 1.4.0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1918</Words>
  <Application>Microsoft Office PowerPoint</Application>
  <PresentationFormat>宽屏</PresentationFormat>
  <Paragraphs>348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Huang Shi Fang (黄世昉)</cp:lastModifiedBy>
  <cp:revision>8</cp:revision>
  <dcterms:created xsi:type="dcterms:W3CDTF">2013-01-27T09:14:16Z</dcterms:created>
  <dcterms:modified xsi:type="dcterms:W3CDTF">2026-05-22T11:09:16Z</dcterms:modified>
  <cp:category/>
</cp:coreProperties>
</file>